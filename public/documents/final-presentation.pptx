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4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TOMATODOC  ·  AI-POWERED TOMATO PLANT HEALTH PLATFORM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1280160" cy="54864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1640" y="960120"/>
            <a:ext cx="548640" cy="54864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4773168"/>
            <a:ext cx="8321040" cy="0"/>
          </a:xfrm>
          <a:prstGeom prst="line">
            <a:avLst/>
          </a:prstGeom>
          <a:noFill/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 FACULTY OF COMPUTING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0" y="4818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R26-SE-032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"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TOMATODOC  ·  AI-POWERED TOMATO PLANT HEALTH PLATFORM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4773168"/>
            <a:ext cx="8321040" cy="0"/>
          </a:xfrm>
          <a:prstGeom prst="line">
            <a:avLst/>
          </a:prstGeom>
          <a:noFill/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48188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 FACULTY OF COMPUTING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6980" y="4460"/>
            <a:ext cx="411480" cy="5143500"/>
          </a:xfrm>
          <a:prstGeom prst="rect">
            <a:avLst/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32520" y="3108960"/>
            <a:ext cx="411480" cy="2034540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8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</a:t>
            </a:r>
            <a:endParaRPr lang="en-US" sz="13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474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 ·  AI  ·  Market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640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TOMATODOC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5087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AI System for Tomato Plant Health Monitoring, Disease Detection &amp; Market Price Forecasting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5120640" cy="457200"/>
          </a:xfrm>
          <a:prstGeom prst="rect">
            <a:avLst/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520440" y="2560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Sri Lankan tomato farmers detect problems earlier and sell smarter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3337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R26-SE-032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767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Gabilan S.  ·  Farthas A.L.M.  ·  Vithusha P.  ·  Rashad M.P.M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526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SLIIT Faculty of Computing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Comments on PP2 and How We Addressed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8321040" cy="777240"/>
          </a:xfrm>
          <a:prstGeom prst="rect">
            <a:avLst/>
          </a:prstGeom>
          <a:solidFill>
            <a:srgbClr val="FFF6D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COMMENT (all four members)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99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“Most comments were addressed with good improvement. Each member should further improve their research component, particularly the implementation, validation, and clear explanation of the results.”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007531"/>
              </p:ext>
            </p:extLst>
          </p:nvPr>
        </p:nvGraphicFramePr>
        <p:xfrm>
          <a:off x="411480" y="2029968"/>
          <a:ext cx="8321040" cy="235915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taken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and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IT22060426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Gabilan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Compared 4 architectures (CNN scratch, VGG16, ResNet50, MobileNetV2) and chose MobileNetV2 for accuracy, 14 MB size and 0.8 s inference. Linked RAG advice to every result.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accuracy: leaf 93.30%, fruit 93.14% (vs CNN scratch 43%, VGG16 89%, ResNet50 91%). Scan, result and history screens live.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IT22190734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A.L.M. Farthas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YOLOv8s with an EfficientNet gate for leaf disease, including Early + Late Blight and Leaf Miner together. Backend API is live.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 0.737, F1 0.723, Precision 0.758. Output shows bounding boxes plus RAG treatment advice.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IT22208262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Vithusha 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U-Net severity segmentation and a 7-day TRR engine on Day 1/3/7 photos, behind a photo quality gate.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U-Net test accuracy 89.02%, Quality Gate 91.21%. Verdict is shown as Success, Partial or Failure.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IT22295842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44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Rashad M.P.M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price forecasting with LSTM against GRU, XGBoost and RF baselines. SHAP explains every sell/hold advice.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with MAE, RMSE and MAPE against the ARIMA baseline. SHAP chart shows the reasons.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Supervision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97280" y="1234440"/>
            <a:ext cx="3108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0972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Bimal </a:t>
            </a:r>
            <a:r>
              <a:rPr lang="en-US" sz="2000" b="1" dirty="0" err="1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Gunapala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Software Engineering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Computing, SLIIT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234440"/>
            <a:ext cx="31089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9377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b="1" dirty="0" err="1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Eishan</a:t>
            </a:r>
            <a:r>
              <a:rPr lang="en-US" sz="20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/>
              <a:t>Weerasinghe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Software Engineering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Computing, SLIIT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25100BF-50AB-6910-2DED-5148B9792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978" y="1828898"/>
            <a:ext cx="1543091" cy="15110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D7DB3D-B8DA-2CED-46C9-724F56C133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845" y="1783080"/>
            <a:ext cx="1311813" cy="15158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components, one app: diagnose, treat, monitor, sell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 brief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45920"/>
            <a:ext cx="2834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problems look alike and prices swing wildly, so farmers diagnose late and sell badly.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smallholder tomato farmers, supported by agri officers.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disease causes 30–40% post-harvest loss. Prices range LKR 7 to 220 per kg.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170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excellence: four components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5087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950208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950208" y="1764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deficiency + fruit disease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20391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reads 6 leaf and 5 fruit classes and gives fertilizer or treatment advice.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19088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1764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disease detection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20391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locates diseases, including Early Blight ,Late Blight and Leaf Miner together.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0" y="26517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950208" y="2715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monitoring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31821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severity and a 7-day TRR engine show if the treatment works.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651760"/>
            <a:ext cx="2377440" cy="1051560"/>
          </a:xfrm>
          <a:prstGeom prst="roundRect">
            <a:avLst>
              <a:gd name="adj" fmla="val 6957"/>
            </a:avLst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419088" y="27157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29077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1821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C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forecasts with SHAP-explained sell/hold advice.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8321040" cy="685800"/>
          </a:xfrm>
          <a:prstGeom prst="rect">
            <a:avLst/>
          </a:prstGeom>
          <a:solidFill>
            <a:srgbClr val="FFF6D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Inventive step: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detect, treat, monitor and forecast in one mobile app, from spotting the problem to deciding when to sell.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Excellence over Existing Solutions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347991"/>
              </p:ext>
            </p:extLst>
          </p:nvPr>
        </p:nvGraphicFramePr>
        <p:xfrm>
          <a:off x="411480" y="1188720"/>
          <a:ext cx="8321040" cy="2560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solutions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4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TomatoDoc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Nutrient deficiency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6 classes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 disease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Not covered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5 classes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Co-occurrence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Single label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YOLOv8s spatial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efficacy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Single-shot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7-day TRR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forecasting + selling advice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Forecast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SHAP-explained sell/hold decision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 Lanka field conditions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Lab images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Real field datasets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3931920"/>
            <a:ext cx="8321040" cy="685800"/>
          </a:xfrm>
          <a:prstGeom prst="rect">
            <a:avLst/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covers nutrient deficiency, co-occurring leaf disease, treatment monitoring and price forecasting together for Sri Lankan farmers in one mobile platform.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2103120" cy="566928"/>
          </a:xfrm>
          <a:prstGeom prst="rect">
            <a:avLst/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DCE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leaf / fruit photo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1472184"/>
            <a:ext cx="274320" cy="0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88920" y="1188720"/>
            <a:ext cx="5943600" cy="566928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926080" y="118872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TomatoDoc mobile app (React Native)  +  Flask / FastAPI REST APIs</a:t>
            </a:r>
            <a:endParaRPr lang="en-US" sz="1100" dirty="0"/>
          </a:p>
          <a:p>
            <a:pPr marL="0" indent="0">
              <a:buNone/>
            </a:pPr>
            <a:r>
              <a:rPr lang="en-US" sz="95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· Diagnose · Monitor · Forecast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1755648"/>
            <a:ext cx="0" cy="301752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2057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+ fruit disease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2B33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leaf + 5 fruit classes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0" y="3291840"/>
            <a:ext cx="0" cy="228600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1755648"/>
            <a:ext cx="0" cy="301752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14600" y="2057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60604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disease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+ EfficientNet gate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06040" y="28803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2B33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26060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+ co-occurrence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291840"/>
            <a:ext cx="0" cy="228600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77840" y="1755648"/>
            <a:ext cx="0" cy="301752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2057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70916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monitoring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+ 7-day TRR engine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28803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2B33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7091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· Partial · Failure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80960" y="1755648"/>
            <a:ext cx="0" cy="301752"/>
          </a:xfrm>
          <a:prstGeom prst="line">
            <a:avLst/>
          </a:prstGeom>
          <a:noFill/>
          <a:ln w="19050">
            <a:solidFill>
              <a:srgbClr val="14401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720840" y="2057400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1228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2423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+ Weather + News 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2880360"/>
            <a:ext cx="1828800" cy="274320"/>
          </a:xfrm>
          <a:prstGeom prst="roundRect">
            <a:avLst>
              <a:gd name="adj" fmla="val 26667"/>
            </a:avLst>
          </a:prstGeom>
          <a:solidFill>
            <a:srgbClr val="F2B33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122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/ Hold + SHAP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3520440"/>
            <a:ext cx="8321040" cy="502920"/>
          </a:xfrm>
          <a:prstGeom prst="rect">
            <a:avLst/>
          </a:prstGeom>
          <a:solidFill>
            <a:srgbClr val="FFF6D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594360" y="35204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RAG advice: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Groq Llama 3 8B, grounded in verified DOA Sri Lanka sources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11480" y="4114800"/>
            <a:ext cx="8321040" cy="502920"/>
          </a:xfrm>
          <a:prstGeom prst="rect">
            <a:avLst/>
          </a:prstGeom>
          <a:solidFill>
            <a:srgbClr val="E3F1E3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security: </a:t>
            </a: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Atlas·  JWT + bcrypt  ·  Render.com deployment</a:t>
            </a:r>
            <a:endParaRPr lang="en-US" sz="11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Technologies, AI Models and Engineering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23444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97480" cy="457200"/>
          </a:xfrm>
          <a:prstGeom prst="rect">
            <a:avLst/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React Native (Android + iOS)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Flask / FastAPI microservices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MongoDB Atlas 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ChromaDB + Groq Llama 3 8B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Render.com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27832" y="123444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27832" y="1234440"/>
            <a:ext cx="2697480" cy="457200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64992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64992" y="187452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+ fruit: MobileNetV2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disease: YOLOv8s + EfficientNet gate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U-Net + TRR engine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LSTM + Weather + News, Explainability: SHAP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44184" y="1234440"/>
            <a:ext cx="26974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44184" y="1234440"/>
            <a:ext cx="2697480" cy="457200"/>
          </a:xfrm>
          <a:prstGeom prst="rect">
            <a:avLst/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81344" y="1234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security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187452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3 s end-to-end response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MobileNetV2: 0.8 s inference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+ bcrypt hashing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to limit overfitting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base updatable without retraining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18872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4114800" cy="365760"/>
          </a:xfrm>
          <a:prstGeom prst="rect">
            <a:avLst/>
          </a:prstGeom>
          <a:solidFill>
            <a:srgbClr val="14401A"/>
          </a:solidFill>
          <a:ln w="9525">
            <a:solidFill>
              <a:srgbClr val="1440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Lankan tomato farmers and smallholders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extension officers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Agri-tech platforms and cooperatives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18872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17720" y="1188720"/>
            <a:ext cx="4114800" cy="365760"/>
          </a:xfrm>
          <a:prstGeom prst="rect">
            <a:avLst/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delivered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6459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deficiency, disease, monitoring and pricing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dosage and treatment, not generic advice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Sell/hold advice with reasons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4114800" cy="365760"/>
          </a:xfrm>
          <a:prstGeom prst="rect">
            <a:avLst/>
          </a:prstGeom>
          <a:solidFill>
            <a:srgbClr val="C62828"/>
          </a:solidFill>
          <a:ln w="952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10 scans per month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unlimited scans, history, trends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API for agri-platforms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297180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17720" y="2971800"/>
            <a:ext cx="4114800" cy="365760"/>
          </a:xfrm>
          <a:prstGeom prst="rect">
            <a:avLst/>
          </a:prstGeom>
          <a:solidFill>
            <a:srgbClr val="1F3A8A"/>
          </a:solidFill>
          <a:ln w="9525">
            <a:solidFill>
              <a:srgbClr val="1F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548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and partnerships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 Sri Lanka: approvals and field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HORDI: horticultural research 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documented Phosphorus dataset gap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to Market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8046720" cy="54864"/>
          </a:xfrm>
          <a:prstGeom prst="rect">
            <a:avLst/>
          </a:prstGeom>
          <a:solidFill>
            <a:srgbClr val="D5E0D3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8408" y="1325880"/>
            <a:ext cx="548640" cy="54864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7840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9659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16276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validate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108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components trained and APIs live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660904" y="1325880"/>
            <a:ext cx="548640" cy="548640"/>
          </a:xfrm>
          <a:prstGeom prst="ellipse">
            <a:avLst/>
          </a:prstGeom>
          <a:solidFill>
            <a:srgbClr val="F2B3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266090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505456" y="196596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F2B33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505456" y="19659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93976" y="2331720"/>
            <a:ext cx="16276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2185416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185416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field-test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185416" y="3108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integration, collect Sri Lankan field data, validate with farmers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43400" y="1325880"/>
            <a:ext cx="548640" cy="548640"/>
          </a:xfrm>
          <a:prstGeom prst="ellipse">
            <a:avLst/>
          </a:prstGeom>
          <a:solidFill>
            <a:srgbClr val="1F3A8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3434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187952" y="196596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1F3A8A"/>
          </a:solidFill>
          <a:ln w="9525">
            <a:solidFill>
              <a:srgbClr val="1F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187952" y="19659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76472" y="2331720"/>
            <a:ext cx="16276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3867912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867912" y="3108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DOA, HORDI and extension officers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025896" y="1325880"/>
            <a:ext cx="548640" cy="548640"/>
          </a:xfrm>
          <a:prstGeom prst="ellipse">
            <a:avLst/>
          </a:prstGeom>
          <a:solidFill>
            <a:srgbClr val="1F3A8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0258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70448" y="196596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1F3A8A"/>
          </a:solidFill>
          <a:ln w="9525">
            <a:solidFill>
              <a:srgbClr val="1F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870448" y="19659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58968" y="2331720"/>
            <a:ext cx="16276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5550408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550408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550408" y="3108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free and premium tiers on Android and iOS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708392" y="1325880"/>
            <a:ext cx="548640" cy="548640"/>
          </a:xfrm>
          <a:prstGeom prst="ellipse">
            <a:avLst/>
          </a:prstGeom>
          <a:solidFill>
            <a:srgbClr val="5B6B5B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70839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2944" y="196596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5B6B5B"/>
          </a:solidFill>
          <a:ln w="9525">
            <a:solidFill>
              <a:srgbClr val="5B6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7552944" y="1965960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41464" y="2331720"/>
            <a:ext cx="162763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7232904" y="2395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2606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31089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Sinhala, offline mode, more classes, other crops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11480" y="4251960"/>
            <a:ext cx="8321040" cy="411480"/>
          </a:xfrm>
          <a:prstGeom prst="rect">
            <a:avLst/>
          </a:prstGeom>
          <a:solidFill>
            <a:srgbClr val="FFF6DD"/>
          </a:solidFill>
          <a:ln w="9525">
            <a:solidFill>
              <a:srgbClr val="F2B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94360" y="42519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path: </a:t>
            </a: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pilot  →  partners  →  public launch</a:t>
            </a:r>
            <a:endParaRPr lang="en-US" sz="12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IT22060426 | Sivanesangabilan Gabilan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DEFICIENCY + FRUIT DISEASE DETECTION + RAG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farmer which nutrient is missing from a leaf photo, or which disease affects a fruit, then recommends the fertilizer or treatment. It is the first diagnostic layer of TomatoDoc.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75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model (6 classes) 93.30% and fruit model (5 classes) 93.14% test accuracy. Chosen over CNN scratch 43%, VGG16 89%, ResNet50 91%.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advice: </a:t>
            </a:r>
            <a:r>
              <a:rPr lang="en-US" sz="13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scan, result and history screens, with MongoDB Atlas storage.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818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IT22060426 | Sivanesangabilan Gabilan | R26-SE-032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B789F4-53E6-2E76-876A-BB795F2DC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305" y="337185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IT22190734 | A.L.M. Farthas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CO-OCCURANCE LEAF DISEASE DETECTION + RAG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locates leaf diseases in a single photo, including Early, Late Blight and Leaf Miner appearing together, then gives treatment advice for each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75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detection: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detection with bounding boxes, real-time at 640×640. mAP@0.5 0.737, F1 0.723, Precision 0.758.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</a:t>
            </a: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Validator: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the image before detection, so only usable leaf photos are analysed.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treatment advice: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for every detected disease from verified DOA sources.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818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IT22190734 | A.L.M. Farthas | R26-SE-032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2729BD-EB52-C39F-2BEE-B472DCA60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069" y="270939"/>
            <a:ext cx="1329836" cy="14775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IT22208262 | Vithusha Pathmanathan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EFFICACY MONITORING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over 7 days whether a treatment is working, and suggests an alternative treatment when it is not.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75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(MobileNetV2):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or REJECT for each photo, 91.21% test accuracy.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severity segmentation: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disease severity % on Day 1, 3 and 7 photos, 89.02% test accuracy.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Trend Analysis: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severity scores across observations to identify whether the condition is improving, worsening, or stable, and tracks a software-defined recovery status.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818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IT22208262 | Vithusha Pathmanathan | R26-SE-032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465FBC-60B2-A2DB-42CF-6B1694CB4C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70"/>
          <a:stretch>
            <a:fillRect/>
          </a:stretch>
        </p:blipFill>
        <p:spPr>
          <a:xfrm>
            <a:off x="6967025" y="173736"/>
            <a:ext cx="1719775" cy="17465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IT22295842 | Rashad M.P.M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FORECASTING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762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tomato market prices and tells the farmer whether to sell or hold, with clear reasons. Prices swing from LKR 7 to 220 per kg.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75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0080" y="28986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04796"/>
            <a:ext cx="7909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models: Bi-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compared with </a:t>
            </a:r>
            <a:r>
              <a:rPr lang="en-US" sz="1300" dirty="0" err="1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GRU, Random Forest and an ARIMA baseline.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RMSE and MAPE against the ARIMA baseline, with an anomaly flag.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factors drive each sell or hold recommendation.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8188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IT22295842 | Rashad M.P.M | R26-SE-032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128D50-262F-FDA8-23B9-9994E0838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235" y="168704"/>
            <a:ext cx="1412941" cy="18134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User Acceptance and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117043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21208" y="12252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+ FRUIT CLASSIFIERS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21208" y="1481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21208" y="20116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93.30% · fruit 95.14%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4600" y="117043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624328" y="12252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DISEASE (YOLOv8s)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624328" y="1481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624328" y="20116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· F1 0.723 · P 0.758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17043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727448" y="12252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MONITORING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1481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0116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· gate 91.21%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17043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830568" y="122529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FORECASTING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830568" y="1481328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MAE :33.71/kg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RMSE :51.19/kg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MAPE :13.86%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6830568" y="201168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487168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evidence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scan a leaf, read the advice, track a treatment, check a price forecast.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08960" y="2487168"/>
            <a:ext cx="29260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3246120" y="2560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4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246120" y="2880360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Phosphorus dataset exists; only 20 images were available.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only for now.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only.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forecast not yet field-tested.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2487168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5E0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288036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verified Sri Lankan field dataset.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Magnesium and Calcium classes.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TFLite mode and Sinhala support.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Phosphorus dataset.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5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1601</Words>
  <Application>Microsoft Office PowerPoint</Application>
  <PresentationFormat>On-screen Show (16:9)</PresentationFormat>
  <Paragraphs>256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TomatoDoc Final Presentation (R26-SE-032)</dc:title>
  <dc:subject>PptxGenJS Presentation</dc:subject>
  <dc:creator>R26-SE-032</dc:creator>
  <cp:lastModifiedBy>FARTHAS A L M it22190734</cp:lastModifiedBy>
  <cp:revision>12</cp:revision>
  <dcterms:created xsi:type="dcterms:W3CDTF">2026-10-20T15:40:00Z</dcterms:created>
  <dcterms:modified xsi:type="dcterms:W3CDTF">2026-10-21T18:31:21Z</dcterms:modified>
</cp:coreProperties>
</file>